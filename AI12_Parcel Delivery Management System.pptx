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embeddedFontLst>
    <p:embeddedFont>
      <p:font typeface="Inter"/>
      <p:bold r:id="rId14"/>
    </p:embeddedFont>
    <p:embeddedFont>
      <p:font typeface="Plus Jakarta Sans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489995"/>
            <a:ext cx="10668000" cy="676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1734591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2120354"/>
            <a:ext cx="8601075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 dirty="0">
                <a:solidFill>
                  <a:srgbClr val="F8FAFC"/>
                </a:solidFill>
                <a:latin typeface="Plus Jakarta Sans"/>
              </a:rPr>
              <a:t>Parcel Delivery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1691729"/>
            <a:ext cx="195079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200" b="1" dirty="0">
                <a:solidFill>
                  <a:srgbClr val="60A5FA"/>
                </a:solidFill>
                <a:latin typeface="Plus Jakarta Sans"/>
              </a:rPr>
              <a:t>Team: Something Went Wrong</a:t>
            </a:r>
            <a:endParaRPr sz="1200" b="1" i="0" u="none" dirty="0">
              <a:solidFill>
                <a:srgbClr val="60A5FA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2548" y="3173720"/>
            <a:ext cx="3429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Inter"/>
              </a:rPr>
              <a:t>TARGET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2548" y="3373745"/>
            <a:ext cx="3429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CBD5E1"/>
                </a:solidFill>
                <a:latin typeface="Inter"/>
              </a:rPr>
              <a:t>Myanmar Courier &amp; E-Commerce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30548" y="3173720"/>
            <a:ext cx="432196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CORE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30548" y="3373745"/>
            <a:ext cx="43219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CBD5E1"/>
                </a:solidFill>
                <a:latin typeface="Inter"/>
              </a:rPr>
              <a:t>Customer Portal · Driver App · Admin Hub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22F134-2D03-748C-D80E-2B4A45601BC2}"/>
              </a:ext>
            </a:extLst>
          </p:cNvPr>
          <p:cNvSpPr txBox="1"/>
          <p:nvPr/>
        </p:nvSpPr>
        <p:spPr>
          <a:xfrm>
            <a:off x="765631" y="4343702"/>
            <a:ext cx="3159097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50" b="1" i="0" u="none" dirty="0">
                <a:solidFill>
                  <a:srgbClr val="CBD5E1"/>
                </a:solidFill>
                <a:latin typeface="Inter"/>
              </a:rPr>
              <a:t>Team Members</a:t>
            </a:r>
          </a:p>
          <a:p>
            <a:pPr algn="l"/>
            <a:endParaRPr lang="en-US" sz="1350" b="1" i="0" u="none" dirty="0">
              <a:solidFill>
                <a:srgbClr val="CBD5E1"/>
              </a:solidFill>
              <a:latin typeface="Inter"/>
            </a:endParaRPr>
          </a:p>
          <a:p>
            <a:pPr marL="285750" indent="-285750" algn="l">
              <a:buFontTx/>
              <a:buChar char="-"/>
            </a:pPr>
            <a:r>
              <a:rPr lang="en-US" sz="1350" b="1" dirty="0">
                <a:solidFill>
                  <a:srgbClr val="CBD5E1"/>
                </a:solidFill>
                <a:latin typeface="Inter"/>
              </a:rPr>
              <a:t>Ma Khin Moe Phyu</a:t>
            </a:r>
          </a:p>
          <a:p>
            <a:pPr marL="285750" indent="-285750" algn="l">
              <a:buFontTx/>
              <a:buChar char="-"/>
            </a:pPr>
            <a:r>
              <a:rPr lang="en-US" sz="1350" b="1" i="0" u="none" dirty="0">
                <a:solidFill>
                  <a:srgbClr val="CBD5E1"/>
                </a:solidFill>
                <a:latin typeface="Inter"/>
              </a:rPr>
              <a:t>Ma Hsu Myat Khine</a:t>
            </a:r>
          </a:p>
          <a:p>
            <a:pPr marL="285750" indent="-285750" algn="l">
              <a:buFontTx/>
              <a:buChar char="-"/>
            </a:pPr>
            <a:r>
              <a:rPr lang="en-US" sz="1350" b="1" dirty="0">
                <a:solidFill>
                  <a:srgbClr val="CBD5E1"/>
                </a:solidFill>
                <a:latin typeface="Inter"/>
              </a:rPr>
              <a:t>Ma Khin Thinzar Shwe</a:t>
            </a:r>
          </a:p>
          <a:p>
            <a:pPr marL="285750" indent="-285750" algn="l">
              <a:buFontTx/>
              <a:buChar char="-"/>
            </a:pPr>
            <a:r>
              <a:rPr lang="en-US" sz="1350" b="1" i="0" u="none" dirty="0">
                <a:solidFill>
                  <a:srgbClr val="CBD5E1"/>
                </a:solidFill>
                <a:latin typeface="Inter"/>
              </a:rPr>
              <a:t>Ma Thin Lae Oo</a:t>
            </a:r>
          </a:p>
          <a:p>
            <a:pPr marL="285750" indent="-285750" algn="l">
              <a:buFontTx/>
              <a:buChar char="-"/>
            </a:pPr>
            <a:r>
              <a:rPr lang="en-US" sz="1350" b="1" dirty="0">
                <a:solidFill>
                  <a:srgbClr val="CBD5E1"/>
                </a:solidFill>
                <a:latin typeface="Inter"/>
              </a:rPr>
              <a:t>Ma Zin Phyo </a:t>
            </a:r>
            <a:r>
              <a:rPr lang="en-US" sz="1350" b="1" dirty="0" err="1">
                <a:solidFill>
                  <a:srgbClr val="CBD5E1"/>
                </a:solidFill>
                <a:latin typeface="Inter"/>
              </a:rPr>
              <a:t>Phyo</a:t>
            </a:r>
            <a:r>
              <a:rPr lang="en-US" sz="1350" b="1" dirty="0">
                <a:solidFill>
                  <a:srgbClr val="CBD5E1"/>
                </a:solidFill>
                <a:latin typeface="Inter"/>
              </a:rPr>
              <a:t> Wai</a:t>
            </a:r>
          </a:p>
          <a:p>
            <a:pPr marL="285750" indent="-285750" algn="l">
              <a:buFontTx/>
              <a:buChar char="-"/>
            </a:pPr>
            <a:r>
              <a:rPr lang="en-US" sz="1350" b="1" i="0" u="none" dirty="0">
                <a:solidFill>
                  <a:srgbClr val="CBD5E1"/>
                </a:solidFill>
                <a:latin typeface="Inter"/>
              </a:rPr>
              <a:t>Ko Sai Nanda Hein</a:t>
            </a:r>
            <a:endParaRPr sz="1350" b="1" i="0" u="none" dirty="0">
              <a:solidFill>
                <a:srgbClr val="CBD5E1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686300"/>
            <a:ext cx="10972800" cy="609600"/>
          </a:xfrm>
          <a:prstGeom prst="roundRect">
            <a:avLst>
              <a:gd name="adj" fmla="val 1875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571750"/>
            <a:ext cx="3505200" cy="180975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571750"/>
            <a:ext cx="3505200" cy="180975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571750"/>
            <a:ext cx="3505200" cy="180975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4876800"/>
            <a:ext cx="22860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MARKET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Myanmar Last-Mile Delivery Landscape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4891087"/>
            <a:ext cx="10896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40AF"/>
                </a:solidFill>
                <a:latin typeface="Inter"/>
              </a:rPr>
              <a:t>Strategic Gap: 8 million active consumers require real-time tracking without downloading standalone app binaries.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2847975"/>
            <a:ext cx="3690937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2563EB"/>
                </a:solidFill>
                <a:latin typeface="Plus Jakarta Sans"/>
              </a:rPr>
              <a:t>20,000+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505200"/>
            <a:ext cx="3690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Active E-Merchants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743325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Social commerce sellers relying heavily on COD.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2847975"/>
            <a:ext cx="3690937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2563EB"/>
                </a:solidFill>
                <a:latin typeface="Plus Jakarta Sans"/>
              </a:rPr>
              <a:t>4.9M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505200"/>
            <a:ext cx="3690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Annual Shipments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743325"/>
            <a:ext cx="36909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Rapidly expanding domestic parcel volume.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425" y="2847975"/>
            <a:ext cx="3690937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59669"/>
                </a:solidFill>
                <a:latin typeface="Plus Jakarta Sans"/>
              </a:rPr>
              <a:t>33%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505200"/>
            <a:ext cx="3690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Unserved Tracking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3743325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Shipments handled without digital status updates.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90192"/>
            <a:ext cx="5334000" cy="2811065"/>
          </a:xfrm>
          <a:prstGeom prst="roundRect">
            <a:avLst>
              <a:gd name="adj" fmla="val 5421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490192"/>
            <a:ext cx="5334000" cy="2811065"/>
          </a:xfrm>
          <a:prstGeom prst="roundRect">
            <a:avLst>
              <a:gd name="adj" fmla="val 5421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2490192"/>
            <a:ext cx="57150" cy="281106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48400" y="2490192"/>
            <a:ext cx="57150" cy="281106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2823567"/>
            <a:ext cx="20955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350" y="2823567"/>
            <a:ext cx="209550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3290292"/>
            <a:ext cx="1143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3922514"/>
            <a:ext cx="1143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4554735"/>
            <a:ext cx="1143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350" y="3290292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350" y="3922514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350" y="4554735"/>
            <a:ext cx="13335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STRATEGIC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Addressing Key Operational Bottlenecks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2794992"/>
            <a:ext cx="196274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991B1B"/>
                </a:solidFill>
                <a:latin typeface="Plus Jakarta Sans"/>
              </a:rPr>
              <a:t>Core Problems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50" y="3252192"/>
            <a:ext cx="45339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7F1D1D"/>
                </a:solidFill>
                <a:latin typeface="Inter"/>
              </a:rPr>
              <a:t>Limited Visibility: Buyers lack real-time parcel updates.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0150" y="3884414"/>
            <a:ext cx="45339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7F1D1D"/>
                </a:solidFill>
                <a:latin typeface="Inter"/>
              </a:rPr>
              <a:t>Inflexible Delivery: Cannot update location while in transit.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0150" y="4516635"/>
            <a:ext cx="45339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7F1D1D"/>
                </a:solidFill>
                <a:latin typeface="Inter"/>
              </a:rPr>
              <a:t>Unrecorded Failures: Riders lack standard failure logging.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4200" y="2794992"/>
            <a:ext cx="230028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66534"/>
                </a:solidFill>
                <a:latin typeface="Plus Jakarta Sans"/>
              </a:rPr>
              <a:t>System Solutions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252192"/>
            <a:ext cx="45148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4532D"/>
                </a:solidFill>
                <a:latin typeface="Inter"/>
              </a:rPr>
              <a:t>Unified Web Tracking: Instant access via tracking code.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884414"/>
            <a:ext cx="45148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4532D"/>
                </a:solidFill>
                <a:latin typeface="Inter"/>
              </a:rPr>
              <a:t>Dynamic Preferences: Safe drop &amp; neighbor routing options.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516635"/>
            <a:ext cx="45148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4532D"/>
                </a:solidFill>
                <a:latin typeface="Inter"/>
              </a:rPr>
              <a:t>Standardized Statuses: Unreachable &amp; photo evidence rules.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90825"/>
            <a:ext cx="3505200" cy="2209800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690812"/>
            <a:ext cx="3505200" cy="2409825"/>
          </a:xfrm>
          <a:prstGeom prst="roundRect">
            <a:avLst>
              <a:gd name="adj" fmla="val 63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690812"/>
            <a:ext cx="3505200" cy="2409825"/>
          </a:xfrm>
          <a:prstGeom prst="roundRect">
            <a:avLst>
              <a:gd name="adj" fmla="val 63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3105150"/>
            <a:ext cx="60960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3005137"/>
            <a:ext cx="60960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3005137"/>
            <a:ext cx="609600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5512" y="3276600"/>
            <a:ext cx="33337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9312" y="3176587"/>
            <a:ext cx="333375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9787" y="3176587"/>
            <a:ext cx="200025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PRODUCT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Three Integrated User Segments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592" y="3905250"/>
            <a:ext cx="172521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Plus Jakarta Sans"/>
              </a:rPr>
              <a:t>Admin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4356" y="4286250"/>
            <a:ext cx="35956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Centralized parcel setup, route dispatch, and driver management.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40270" y="3805237"/>
            <a:ext cx="1111459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 dirty="0">
                <a:solidFill>
                  <a:srgbClr val="0F172A"/>
                </a:solidFill>
                <a:latin typeface="Plus Jakarta Sans"/>
              </a:rPr>
              <a:t>Driver </a:t>
            </a:r>
            <a:r>
              <a:rPr lang="en-US" sz="1650" b="1" i="0" u="none" dirty="0">
                <a:solidFill>
                  <a:srgbClr val="0F172A"/>
                </a:solidFill>
                <a:latin typeface="Plus Jakarta Sans"/>
              </a:rPr>
              <a:t>Portal</a:t>
            </a:r>
            <a:endParaRPr sz="165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98156" y="4186237"/>
            <a:ext cx="3595687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Daily route management, status updates, and photo evidence upload.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48414" y="3805237"/>
            <a:ext cx="216277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Plus Jakarta Sans"/>
              </a:rPr>
              <a:t>Customer 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1956" y="4186237"/>
            <a:ext cx="3595687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Code-based order tracking, receiving preferences, and remarks.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05137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662362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319587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3119437"/>
            <a:ext cx="1524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776662"/>
            <a:ext cx="1714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4433887"/>
            <a:ext cx="1524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SEGMENT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Customer Tracking &amp; Preference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005137"/>
            <a:ext cx="216912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500" b="1" i="0" u="none" dirty="0">
                <a:solidFill>
                  <a:srgbClr val="0F172A"/>
                </a:solidFill>
                <a:latin typeface="Inter"/>
              </a:rPr>
              <a:t>Parcel </a:t>
            </a:r>
            <a:r>
              <a:rPr sz="1500" b="1" i="0" u="none" dirty="0">
                <a:solidFill>
                  <a:srgbClr val="0F172A"/>
                </a:solidFill>
                <a:latin typeface="Inter"/>
              </a:rPr>
              <a:t>Code-Based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271837"/>
            <a:ext cx="4238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Instant tracking without account creation.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662362"/>
            <a:ext cx="417552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Flexible Drop Locations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29062"/>
            <a:ext cx="3976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Home, neighbor, or door drop settings.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319587"/>
            <a:ext cx="382547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Custom Delivery Remarks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586287"/>
            <a:ext cx="36433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Direct instruction dispatch to driver.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61AABC6-1001-D46B-FD2B-987949382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025" y="1857374"/>
            <a:ext cx="5962650" cy="399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85975"/>
            <a:ext cx="5305425" cy="3619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095500"/>
            <a:ext cx="5286375" cy="3600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3005137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3662362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4319587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325" y="3119437"/>
            <a:ext cx="1524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325" y="3776662"/>
            <a:ext cx="1524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850" y="4433887"/>
            <a:ext cx="13335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SEGMENT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Driver Mobile Task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9425" y="3005137"/>
            <a:ext cx="418802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Daily Route Display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9425" y="3271837"/>
            <a:ext cx="39885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Organized assigned parcels and stops.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9425" y="3662362"/>
            <a:ext cx="381297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Photo Evidence Capture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9425" y="3929062"/>
            <a:ext cx="36314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Mandatory photo uploads for proof.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9425" y="4319587"/>
            <a:ext cx="402550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Real-Time Alert Prompts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9425" y="4586287"/>
            <a:ext cx="3833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Instant customer instruction updates.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59575"/>
            <a:ext cx="2571750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2759575"/>
            <a:ext cx="2571750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759575"/>
            <a:ext cx="2571750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2759575"/>
            <a:ext cx="2390775" cy="1676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035800"/>
            <a:ext cx="20193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175" y="3035800"/>
            <a:ext cx="20193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3035800"/>
            <a:ext cx="20193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875" y="2921500"/>
            <a:ext cx="20193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SEGMENT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Central Admin Operations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454900"/>
            <a:ext cx="265033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Parcel &amp; Customer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759700"/>
            <a:ext cx="21145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Register details and addresses.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6175" y="3454900"/>
            <a:ext cx="265033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Dynamic Dispatch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6175" y="3759700"/>
            <a:ext cx="21145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Assign orders by date &amp; route.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3454900"/>
            <a:ext cx="265033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Status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3759700"/>
            <a:ext cx="21145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Track failed delivery attempts.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6875" y="3340600"/>
            <a:ext cx="222027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Audit &amp; Photo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6875" y="3874000"/>
            <a:ext cx="21145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Review submitted proof images.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60290" y="3924300"/>
            <a:ext cx="3048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815780" y="3924300"/>
            <a:ext cx="3048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071270" y="3924300"/>
            <a:ext cx="3048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326760" y="3924300"/>
            <a:ext cx="3048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56270" y="330993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11760" y="330993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867251" y="330993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122741" y="330993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378231" y="330993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EXECUTION LIFECYCLE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End-to-End Operational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3395" y="3309937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782" y="3919537"/>
            <a:ext cx="141017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Parcel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8" y="4176712"/>
            <a:ext cx="2152612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Admin registers and dispatches.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8885" y="3309937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7753" y="3919537"/>
            <a:ext cx="172521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 dirty="0">
                <a:solidFill>
                  <a:srgbClr val="0F172A"/>
                </a:solidFill>
                <a:latin typeface="Inter"/>
              </a:rPr>
              <a:t>Customer Track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4128" y="4176712"/>
            <a:ext cx="2152612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User sets drop preference.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24376" y="3309937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0768" y="3919537"/>
            <a:ext cx="133016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Driver 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9619" y="4176712"/>
            <a:ext cx="2152612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Rider receives latest instructions.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9866" y="3309937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1268" y="3919537"/>
            <a:ext cx="116014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Execution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75109" y="4176712"/>
            <a:ext cx="2152612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Delivery and photo proof upload.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35356" y="3309937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Inter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44236" y="3919537"/>
            <a:ext cx="152519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Status Update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0599" y="4176712"/>
            <a:ext cx="2152612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System updates all portals.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34075" y="1466850"/>
            <a:ext cx="5648325" cy="485775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924050"/>
            <a:ext cx="5019675" cy="723900"/>
          </a:xfrm>
          <a:prstGeom prst="roundRect">
            <a:avLst>
              <a:gd name="adj" fmla="val 131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800350"/>
            <a:ext cx="5019675" cy="723900"/>
          </a:xfrm>
          <a:prstGeom prst="roundRect">
            <a:avLst>
              <a:gd name="adj" fmla="val 131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676650"/>
            <a:ext cx="5019675" cy="723900"/>
          </a:xfrm>
          <a:prstGeom prst="roundRect">
            <a:avLst>
              <a:gd name="adj" fmla="val 131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552950"/>
            <a:ext cx="5019675" cy="723900"/>
          </a:xfrm>
          <a:prstGeom prst="roundRect">
            <a:avLst>
              <a:gd name="adj" fmla="val 131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1924050"/>
            <a:ext cx="38100" cy="7239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2800350"/>
            <a:ext cx="38100" cy="7239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3676650"/>
            <a:ext cx="38100" cy="7239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4552950"/>
            <a:ext cx="38100" cy="7239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3490912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4043362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4595812"/>
            <a:ext cx="1524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GOVERNANCE &amp;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Standardized Statuses &amp; Business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1466850"/>
            <a:ext cx="658832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Delivery Status Options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3033712"/>
            <a:ext cx="5943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Key Business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2076450"/>
            <a:ext cx="57507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Delivered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2314575"/>
            <a:ext cx="5750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Handed directly to recipient at home.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2952750"/>
            <a:ext cx="57507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Delivered to Neighbour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3190875"/>
            <a:ext cx="5750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Handed to confirmed neighbor.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3829050"/>
            <a:ext cx="57507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Leave at Door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4067175"/>
            <a:ext cx="5750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Safe drop location placement.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4705350"/>
            <a:ext cx="57507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Customer Unreachable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4943475"/>
            <a:ext cx="5750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Rider logged failed contact attempt.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5100" y="3452812"/>
            <a:ext cx="48482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334155"/>
                </a:solidFill>
                <a:latin typeface="Inter"/>
              </a:rPr>
              <a:t>Time Window: Location changes allowed before window closes.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5100" y="4005262"/>
            <a:ext cx="48482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Inter"/>
              </a:rPr>
              <a:t>Audit Logs: Change history records actor, time, and reason.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5100" y="4557712"/>
            <a:ext cx="56769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Inter"/>
              </a:rPr>
              <a:t>Access Control: Data restricted to authorized users only.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719637"/>
            <a:ext cx="10668000" cy="428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805112"/>
            <a:ext cx="2495550" cy="1457325"/>
          </a:xfrm>
          <a:prstGeom prst="roundRect">
            <a:avLst>
              <a:gd name="adj" fmla="val 78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86150" y="2805112"/>
            <a:ext cx="2495550" cy="1457325"/>
          </a:xfrm>
          <a:prstGeom prst="roundRect">
            <a:avLst>
              <a:gd name="adj" fmla="val 78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2805112"/>
            <a:ext cx="2495550" cy="1457325"/>
          </a:xfrm>
          <a:prstGeom prst="roundRect">
            <a:avLst>
              <a:gd name="adj" fmla="val 78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34450" y="2805112"/>
            <a:ext cx="2495550" cy="1457325"/>
          </a:xfrm>
          <a:prstGeom prst="roundRect">
            <a:avLst>
              <a:gd name="adj" fmla="val 78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4719637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043237"/>
            <a:ext cx="20193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275" y="3043237"/>
            <a:ext cx="20193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3043237"/>
            <a:ext cx="20193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575" y="3043237"/>
            <a:ext cx="20193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2000" y="1709737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0A5FA"/>
                </a:solidFill>
                <a:latin typeface="Plus Jakarta Sans"/>
              </a:rPr>
              <a:t>VALUE REALIZATION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995487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F8FAFC"/>
                </a:solidFill>
                <a:latin typeface="Plus Jakarta Sans"/>
              </a:rPr>
              <a:t>Expected Strategic Business Benefits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957762"/>
            <a:ext cx="32861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Parcel Delivery Management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0" y="4957762"/>
            <a:ext cx="20240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0A5FA"/>
                </a:solidFill>
                <a:latin typeface="Inter"/>
              </a:rPr>
              <a:t>Ready for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3386137"/>
            <a:ext cx="26503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Improved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3643312"/>
            <a:ext cx="21145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Real-time tracking for customers and operations.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4275" y="3386137"/>
            <a:ext cx="26503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Better Coordination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4275" y="3643312"/>
            <a:ext cx="21145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Riders receive live instructions and updates.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8425" y="3386137"/>
            <a:ext cx="26503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Accountability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8425" y="3643312"/>
            <a:ext cx="21145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Photo evidence verifies completed deliveries.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2575" y="3386137"/>
            <a:ext cx="26503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Centralized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2575" y="3643312"/>
            <a:ext cx="21145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Unified system for drivers, routes, and logs.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10275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313086"/>
            <a:ext cx="3505200" cy="2605087"/>
          </a:xfrm>
          <a:prstGeom prst="roundRect">
            <a:avLst>
              <a:gd name="adj" fmla="val 58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436911"/>
            <a:ext cx="3505200" cy="2357437"/>
          </a:xfrm>
          <a:prstGeom prst="roundRect">
            <a:avLst>
              <a:gd name="adj" fmla="val 64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436911"/>
            <a:ext cx="3505200" cy="2357437"/>
          </a:xfrm>
          <a:prstGeom prst="roundRect">
            <a:avLst>
              <a:gd name="adj" fmla="val 64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60102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665511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2789336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2789336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362" y="2798861"/>
            <a:ext cx="23812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2975" y="2922686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2962" y="2922686"/>
            <a:ext cx="238125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OPERATIONS &amp; CUSTOMER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809625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 dirty="0">
                <a:solidFill>
                  <a:srgbClr val="0F172A"/>
                </a:solidFill>
                <a:latin typeface="Inter"/>
              </a:rPr>
              <a:t>Digital Logistics &amp; Delivery Flexibility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172200"/>
            <a:ext cx="16906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Key Strategic Initiatives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82150" y="6172200"/>
            <a:ext cx="25003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End-to-End Logistics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3275111"/>
            <a:ext cx="32004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Digitalize Parcel Collection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922811"/>
            <a:ext cx="3048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Digitalize parcel collection process to improve operational efficiency and reduce manual coordination.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9625" y="3398936"/>
            <a:ext cx="38754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Flexible Delivery Preferences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9625" y="3798986"/>
            <a:ext cx="3048000" cy="637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b="0" i="0" u="none" dirty="0">
                <a:solidFill>
                  <a:srgbClr val="475569"/>
                </a:solidFill>
                <a:latin typeface="Inter"/>
              </a:rPr>
              <a:t>Enable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customers to change preferred delivery location within the same city while parcel is in transit.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3425" y="3398936"/>
            <a:ext cx="38385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Dynamic Driver Reassignment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3425" y="3798986"/>
            <a:ext cx="3048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Reassign parcels to an appropriate driver during township changes, ensuring efficient delivery routing.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A214144-9F62-D461-A8DE-C0DEDB2AA92F}"/>
              </a:ext>
            </a:extLst>
          </p:cNvPr>
          <p:cNvSpPr txBox="1"/>
          <p:nvPr/>
        </p:nvSpPr>
        <p:spPr>
          <a:xfrm>
            <a:off x="3129337" y="3179851"/>
            <a:ext cx="561825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700" b="1" i="0" u="none" dirty="0">
                <a:solidFill>
                  <a:srgbClr val="F8FAFC"/>
                </a:solidFill>
                <a:latin typeface="Plus Jakarta Sans"/>
              </a:rPr>
              <a:t>Thank You!</a:t>
            </a:r>
            <a:endParaRPr sz="2700" b="1" i="0" u="none" dirty="0">
              <a:solidFill>
                <a:srgbClr val="F8FAFC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575</Words>
  <Application>Microsoft Office PowerPoint</Application>
  <PresentationFormat>Widescreen</PresentationFormat>
  <Paragraphs>125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Plus Jakarta Sans</vt:lpstr>
      <vt:lpstr>Calibri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Khin Thinzar Shwe</cp:lastModifiedBy>
  <cp:revision>6</cp:revision>
  <dcterms:created xsi:type="dcterms:W3CDTF">2013-01-27T09:14:16Z</dcterms:created>
  <dcterms:modified xsi:type="dcterms:W3CDTF">2026-10-23T09:41:54Z</dcterms:modified>
  <cp:category/>
</cp:coreProperties>
</file>